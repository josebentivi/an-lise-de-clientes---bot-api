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16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C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01168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0C213A"/>
                </a:solidFill>
              </a:defRPr>
            </a:pPr>
            <a:r>
              <a:t>JurisAI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82296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Panorama de Uso | JurisAI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EADCF"/>
                </a:solidFill>
              </a:defRPr>
            </a:pPr>
            <a:r>
              <a:t>Recorte analisado: 01/01/2026 a 28/02/2026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400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Dados reais de uso para apoiar divulgacao comercial, demos e parcerias.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0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61488"/>
            <a:ext cx="1737360" cy="83210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67788A"/>
                </a:solidFill>
              </a:defRPr>
            </a:pPr>
            <a:r>
              <a:t>Usuarios ativos</a:t>
            </a:r>
          </a:p>
          <a:p>
            <a:pPr>
              <a:defRPr sz="2600" b="1">
                <a:solidFill>
                  <a:srgbClr val="22344A"/>
                </a:solidFill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65176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0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761488"/>
            <a:ext cx="1737360" cy="83210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67788A"/>
                </a:solidFill>
              </a:defRPr>
            </a:pPr>
            <a:r>
              <a:t>Eventos</a:t>
            </a:r>
          </a:p>
          <a:p>
            <a:pPr>
              <a:defRPr sz="2600" b="1">
                <a:solidFill>
                  <a:srgbClr val="22344A"/>
                </a:solidFill>
              </a:defRPr>
            </a:pPr>
            <a: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65176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0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2761488"/>
            <a:ext cx="1737360" cy="83210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67788A"/>
                </a:solidFill>
              </a:defRPr>
            </a:pPr>
            <a:r>
              <a:t>Sessoes</a:t>
            </a:r>
          </a:p>
          <a:p>
            <a:pPr>
              <a:defRPr sz="2600" b="1">
                <a:solidFill>
                  <a:srgbClr val="22344A"/>
                </a:solidFill>
              </a:defRPr>
            </a:pPr>
            <a: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265176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0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2761488"/>
            <a:ext cx="1737360" cy="83210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67788A"/>
                </a:solidFill>
              </a:defRPr>
            </a:pPr>
            <a:r>
              <a:t>Retencao 7D</a:t>
            </a:r>
          </a:p>
          <a:p>
            <a:pPr>
              <a:defRPr sz="2600" b="1">
                <a:solidFill>
                  <a:srgbClr val="22344A"/>
                </a:solidFill>
              </a:defRPr>
            </a:pPr>
            <a:r>
              <a:t>33.3%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65176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0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2761488"/>
            <a:ext cx="1737360" cy="83210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67788A"/>
                </a:solidFill>
              </a:defRPr>
            </a:pPr>
            <a:r>
              <a:t>Feature lider</a:t>
            </a:r>
          </a:p>
          <a:p>
            <a:pPr>
              <a:defRPr sz="2600" b="1">
                <a:solidFill>
                  <a:srgbClr val="22344A"/>
                </a:solidFill>
              </a:defRPr>
            </a:pPr>
            <a:r>
              <a:t>Consulta JurisBrasil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77639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Mensagem-chave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</a:defRPr>
            </a:pPr>
            <a:r>
              <a:t>  4 sessoes geradas no periodo analisado.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</a:defRPr>
            </a:pPr>
            <a:r>
              <a:t>  Consulta JurisBrasil lidera adocao com 1 usuarios ativos.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</a:defRPr>
            </a:pPr>
            <a:r>
              <a:t>  0.0% da base ja se comporta como recorrente ou power user.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</a:defRPr>
            </a:pPr>
            <a:r>
              <a:t>  Media de 2.0 acoes por usuario.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EC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JurisAI  |  Analise de Clientes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510528"/>
            <a:ext cx="2133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C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9144000" cy="59436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defRPr sz="2200" b="1">
                <a:solidFill>
                  <a:srgbClr val="22344A"/>
                </a:solidFill>
              </a:defRPr>
            </a:pPr>
            <a:r>
              <a:t>Crescimento e Engajamento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41248"/>
            <a:ext cx="2286000" cy="36576"/>
          </a:xfrm>
          <a:prstGeom prst="rect">
            <a:avLst/>
          </a:prstGeom>
          <a:solidFill>
            <a:srgbClr val="EC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7788A"/>
                </a:solidFill>
              </a:defRPr>
            </a:pPr>
            <a:r>
              <a:t>Evolucao da base e funil de conversao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1323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344A"/>
                </a:solidFill>
              </a:defRPr>
            </a:pPr>
            <a:r>
              <a:t>Destaques</a:t>
            </a:r>
          </a:p>
          <a:p>
            <a:pPr>
              <a:spcBef>
                <a:spcPts val="800"/>
              </a:spcBef>
              <a:defRPr sz="1150">
                <a:solidFill>
                  <a:srgbClr val="22344A"/>
                </a:solidFill>
              </a:defRPr>
            </a:pPr>
            <a:r>
              <a:t>  2 usuarios ja deram o segundo passo de uso.</a:t>
            </a:r>
          </a:p>
          <a:p>
            <a:pPr>
              <a:spcBef>
                <a:spcPts val="800"/>
              </a:spcBef>
              <a:defRPr sz="1150">
                <a:solidFill>
                  <a:srgbClr val="22344A"/>
                </a:solidFill>
              </a:defRPr>
            </a:pPr>
            <a:r>
              <a:t>  1 usuarios avancaram para 2+ sessoes.</a:t>
            </a:r>
          </a:p>
          <a:p>
            <a:pPr>
              <a:spcBef>
                <a:spcPts val="800"/>
              </a:spcBef>
              <a:defRPr sz="1150">
                <a:solidFill>
                  <a:srgbClr val="22344A"/>
                </a:solidFill>
              </a:defRPr>
            </a:pPr>
            <a:r>
              <a:t>  Media de 2.0 acoes por usuario.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88A"/>
                </a:solidFill>
              </a:defRPr>
            </a:pPr>
            <a:r>
              <a:t>JurisAI  |  Analise de Clientes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133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88A"/>
                </a:solidFill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C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9144000" cy="59436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defRPr sz="2200" b="1">
                <a:solidFill>
                  <a:srgbClr val="22344A"/>
                </a:solidFill>
              </a:defRPr>
            </a:pPr>
            <a:r>
              <a:t>Adocao de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41248"/>
            <a:ext cx="2286000" cy="36576"/>
          </a:xfrm>
          <a:prstGeom prst="rect">
            <a:avLst/>
          </a:prstGeom>
          <a:solidFill>
            <a:srgbClr val="EC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7788A"/>
                </a:solidFill>
              </a:defRPr>
            </a:pPr>
            <a:r>
              <a:t>Features mais utilizadas e taxas de falha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1323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344A"/>
                </a:solidFill>
              </a:defRPr>
            </a:pPr>
            <a:r>
              <a:t>Leituras comerciais</a:t>
            </a:r>
          </a:p>
          <a:p>
            <a:pPr>
              <a:spcBef>
                <a:spcPts val="800"/>
              </a:spcBef>
              <a:defRPr sz="1150">
                <a:solidFill>
                  <a:srgbClr val="22344A"/>
                </a:solidFill>
              </a:defRPr>
            </a:pPr>
            <a:r>
              <a:t>  Consulta JurisBrasil e a principal vitrine funcional.</a:t>
            </a:r>
          </a:p>
          <a:p>
            <a:pPr>
              <a:spcBef>
                <a:spcPts val="800"/>
              </a:spcBef>
              <a:defRPr sz="1150">
                <a:solidFill>
                  <a:srgbClr val="22344A"/>
                </a:solidFill>
              </a:defRPr>
            </a:pPr>
            <a:r>
              <a:t>  5 features com uso registrado.</a:t>
            </a:r>
          </a:p>
          <a:p>
            <a:pPr>
              <a:spcBef>
                <a:spcPts val="800"/>
              </a:spcBef>
              <a:defRPr sz="1150">
                <a:solidFill>
                  <a:srgbClr val="22344A"/>
                </a:solidFill>
              </a:defRPr>
            </a:pPr>
            <a:r>
              <a:t>  Maior taxa de falha: Consulta JurisBrasil com 50.0%.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88A"/>
                </a:solidFill>
              </a:defRPr>
            </a:pPr>
            <a:r>
              <a:t>JurisAI  |  Analise de Clientes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133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88A"/>
                </a:solidFill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C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9144000" cy="59436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defRPr sz="2200" b="1">
                <a:solidFill>
                  <a:srgbClr val="22344A"/>
                </a:solidFill>
              </a:defRPr>
            </a:pPr>
            <a:r>
              <a:t>Retencao e Perfil da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41248"/>
            <a:ext cx="2286000" cy="36576"/>
          </a:xfrm>
          <a:prstGeom prst="rect">
            <a:avLst/>
          </a:prstGeom>
          <a:solidFill>
            <a:srgbClr val="EC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7788A"/>
                </a:solidFill>
              </a:defRPr>
            </a:pPr>
            <a:r>
              <a:t>Recorrencia, cohort e perfil de uso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1323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3716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344A"/>
                </a:solidFill>
              </a:defRPr>
            </a:pPr>
            <a:r>
              <a:t>Base pronta para escalar</a:t>
            </a:r>
          </a:p>
          <a:p>
            <a:pPr>
              <a:spcBef>
                <a:spcPts val="800"/>
              </a:spcBef>
              <a:defRPr sz="1150">
                <a:solidFill>
                  <a:srgbClr val="22344A"/>
                </a:solidFill>
              </a:defRPr>
            </a:pPr>
            <a:r>
              <a:t>  Retencao D+7 em 33.3%.</a:t>
            </a:r>
          </a:p>
          <a:p>
            <a:pPr>
              <a:spcBef>
                <a:spcPts val="800"/>
              </a:spcBef>
              <a:defRPr sz="1150">
                <a:solidFill>
                  <a:srgbClr val="22344A"/>
                </a:solidFill>
              </a:defRPr>
            </a:pPr>
            <a:r>
              <a:t>  0.0% da base no perfil power user.</a:t>
            </a:r>
          </a:p>
          <a:p>
            <a:pPr>
              <a:spcBef>
                <a:spcPts val="800"/>
              </a:spcBef>
              <a:defRPr sz="1150">
                <a:solidFill>
                  <a:srgbClr val="22344A"/>
                </a:solidFill>
              </a:defRPr>
            </a:pPr>
            <a:r>
              <a:t>  Media de 6.2 min por sessao.</a:t>
            </a:r>
          </a:p>
          <a:p>
            <a:pPr>
              <a:spcBef>
                <a:spcPts val="800"/>
              </a:spcBef>
              <a:defRPr sz="1150">
                <a:solidFill>
                  <a:srgbClr val="22344A"/>
                </a:solidFill>
              </a:defRPr>
            </a:pPr>
            <a:r>
              <a:t>  Saldo medio de 5.0 creditos de consulta.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88A"/>
                </a:solidFill>
              </a:defRPr>
            </a:pPr>
            <a:r>
              <a:t>JurisAI  |  Analise de Clientes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133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88A"/>
                </a:solidFill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C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9144000" cy="59436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defRPr sz="2200" b="1">
                <a:solidFill>
                  <a:srgbClr val="22344A"/>
                </a:solidFill>
              </a:defRPr>
            </a:pPr>
            <a:r>
              <a:t>Analise de Sessoes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41248"/>
            <a:ext cx="2286000" cy="36576"/>
          </a:xfrm>
          <a:prstGeom prst="rect">
            <a:avLst/>
          </a:prstGeom>
          <a:solidFill>
            <a:srgbClr val="EC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7788A"/>
                </a:solidFill>
              </a:defRPr>
            </a:pPr>
            <a:r>
              <a:t>Comportamento de uso dentro das sessoes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0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35607"/>
            <a:ext cx="1737360" cy="83210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67788A"/>
                </a:solidFill>
              </a:defRPr>
            </a:pPr>
            <a:r>
              <a:t>Acoes medianas / sessao</a:t>
            </a:r>
          </a:p>
          <a:p>
            <a:pPr>
              <a:defRPr sz="2600" b="1">
                <a:solidFill>
                  <a:srgbClr val="22344A"/>
                </a:solidFill>
              </a:defRPr>
            </a:pPr>
            <a:r>
              <a:t>1.5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32588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0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435607"/>
            <a:ext cx="1737360" cy="83210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67788A"/>
                </a:solidFill>
              </a:defRPr>
            </a:pPr>
            <a:r>
              <a:t>Duracao media</a:t>
            </a:r>
          </a:p>
          <a:p>
            <a:pPr>
              <a:defRPr sz="2600" b="1">
                <a:solidFill>
                  <a:srgbClr val="22344A"/>
                </a:solidFill>
              </a:defRPr>
            </a:pPr>
            <a:r>
              <a:t>6.2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32588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0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1435607"/>
            <a:ext cx="1737360" cy="83210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67788A"/>
                </a:solidFill>
              </a:defRPr>
            </a:pPr>
            <a:r>
              <a:t>Features / sessao</a:t>
            </a:r>
          </a:p>
          <a:p>
            <a:pPr>
              <a:defRPr sz="2600" b="1">
                <a:solidFill>
                  <a:srgbClr val="22344A"/>
                </a:solidFill>
              </a:defRPr>
            </a:pPr>
            <a:r>
              <a:t>1.5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06040"/>
            <a:ext cx="7132320" cy="3474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63840" y="260604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344A"/>
                </a:solidFill>
              </a:defRPr>
            </a:pPr>
            <a:r>
              <a:t>Insights de sessao</a:t>
            </a:r>
          </a:p>
          <a:p>
            <a:pPr>
              <a:spcBef>
                <a:spcPts val="800"/>
              </a:spcBef>
              <a:defRPr sz="1150">
                <a:solidFill>
                  <a:srgbClr val="22344A"/>
                </a:solidFill>
              </a:defRPr>
            </a:pPr>
            <a:r>
              <a:t>  4 sessoes registradas no periodo.</a:t>
            </a:r>
          </a:p>
          <a:p>
            <a:pPr>
              <a:spcBef>
                <a:spcPts val="800"/>
              </a:spcBef>
              <a:defRPr sz="1150">
                <a:solidFill>
                  <a:srgbClr val="22344A"/>
                </a:solidFill>
              </a:defRPr>
            </a:pPr>
            <a:r>
              <a:t>  2 sessoes com 5+ minutos de duracao.</a:t>
            </a:r>
          </a:p>
          <a:p>
            <a:pPr>
              <a:spcBef>
                <a:spcPts val="800"/>
              </a:spcBef>
              <a:defRPr sz="1150">
                <a:solidFill>
                  <a:srgbClr val="22344A"/>
                </a:solidFill>
              </a:defRPr>
            </a:pPr>
            <a:r>
              <a:t>  Media de 1.5 features por sessao.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88A"/>
                </a:solidFill>
              </a:defRPr>
            </a:pPr>
            <a:r>
              <a:t>JurisAI  |  Analise de Clientes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133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88A"/>
                </a:solidFill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C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9144000" cy="59436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defRPr sz="2200" b="1">
                <a:solidFill>
                  <a:srgbClr val="22344A"/>
                </a:solidFill>
              </a:defRPr>
            </a:pPr>
            <a:r>
              <a:t>Creditos e Consumo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41248"/>
            <a:ext cx="2286000" cy="36576"/>
          </a:xfrm>
          <a:prstGeom prst="rect">
            <a:avLst/>
          </a:prstGeom>
          <a:solidFill>
            <a:srgbClr val="EC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7788A"/>
                </a:solidFill>
              </a:defRPr>
            </a:pPr>
            <a:r>
              <a:t>Distribuicao de creditos por segmento e cohort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0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35607"/>
            <a:ext cx="1737360" cy="83210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67788A"/>
                </a:solidFill>
              </a:defRPr>
            </a:pPr>
            <a:r>
              <a:t>Creditos consulta (media)</a:t>
            </a:r>
          </a:p>
          <a:p>
            <a:pPr>
              <a:defRPr sz="2600" b="1">
                <a:solidFill>
                  <a:srgbClr val="22344A"/>
                </a:solidFill>
              </a:defRPr>
            </a:pPr>
            <a:r>
              <a:t>5.0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32588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0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435607"/>
            <a:ext cx="1737360" cy="83210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67788A"/>
                </a:solidFill>
              </a:defRPr>
            </a:pPr>
            <a:r>
              <a:t>Creditos chat (media)</a:t>
            </a:r>
          </a:p>
          <a:p>
            <a:pPr>
              <a:defRPr sz="2600" b="1">
                <a:solidFill>
                  <a:srgbClr val="22344A"/>
                </a:solidFill>
              </a:defRPr>
            </a:pPr>
            <a:r>
              <a:t>15.0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06040"/>
            <a:ext cx="6858000" cy="347472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589520" y="2606040"/>
          <a:ext cx="429768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2296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Segmento</a:t>
                      </a:r>
                    </a:p>
                  </a:txBody>
                  <a:tcPr anchor="ctr">
                    <a:solidFill>
                      <a:srgbClr val="0C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Usuarios</a:t>
                      </a:r>
                    </a:p>
                  </a:txBody>
                  <a:tcPr anchor="ctr">
                    <a:solidFill>
                      <a:srgbClr val="0C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Cred. Consulta</a:t>
                      </a:r>
                    </a:p>
                  </a:txBody>
                  <a:tcPr anchor="ctr">
                    <a:solidFill>
                      <a:srgbClr val="0C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Cred. Chat</a:t>
                      </a:r>
                    </a:p>
                  </a:txBody>
                  <a:tcPr anchor="ctr">
                    <a:solidFill>
                      <a:srgbClr val="0C21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344A"/>
                          </a:solidFill>
                        </a:defRPr>
                      </a:pPr>
                      <a:r>
                        <a:t>Novo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344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344A"/>
                          </a:solidFill>
                        </a:defRPr>
                      </a:pPr>
                      <a:r>
                        <a:t>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344A"/>
                          </a:solidFill>
                        </a:defRPr>
                      </a:pPr>
                      <a:r>
                        <a:t>17.5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344A"/>
                          </a:solidFill>
                        </a:defRPr>
                      </a:pPr>
                      <a:r>
                        <a:t>Explorador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344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344A"/>
                          </a:solidFill>
                        </a:defRPr>
                      </a:pPr>
                      <a:r>
                        <a:t>5.0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344A"/>
                          </a:solidFill>
                        </a:defRPr>
                      </a:pPr>
                      <a:r>
                        <a:t>10.0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88A"/>
                </a:solidFill>
              </a:defRPr>
            </a:pPr>
            <a:r>
              <a:t>JurisAI  |  Analise de Clientes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133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88A"/>
                </a:solidFill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C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9144000" cy="59436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defRPr sz="2200" b="1">
                <a:solidFill>
                  <a:srgbClr val="22344A"/>
                </a:solidFill>
              </a:defRPr>
            </a:pPr>
            <a:r>
              <a:t>Jornadas entre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41248"/>
            <a:ext cx="2286000" cy="36576"/>
          </a:xfrm>
          <a:prstGeom prst="rect">
            <a:avLst/>
          </a:prstGeom>
          <a:solidFill>
            <a:srgbClr val="EC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7788A"/>
                </a:solidFill>
              </a:defRPr>
            </a:pPr>
            <a:r>
              <a:t>Transicoes mais frequentes entre funcionalidades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47548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0" y="1371600"/>
          <a:ext cx="420624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731520"/>
                <a:gridCol w="73152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Origem</a:t>
                      </a:r>
                    </a:p>
                  </a:txBody>
                  <a:tcPr anchor="ctr">
                    <a:solidFill>
                      <a:srgbClr val="0C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Destino</a:t>
                      </a:r>
                    </a:p>
                  </a:txBody>
                  <a:tcPr anchor="ctr">
                    <a:solidFill>
                      <a:srgbClr val="0C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 anchor="ctr">
                    <a:solidFill>
                      <a:srgbClr val="0C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Usuarios</a:t>
                      </a:r>
                    </a:p>
                  </a:txBody>
                  <a:tcPr anchor="ctr">
                    <a:solidFill>
                      <a:srgbClr val="0C21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344A"/>
                          </a:solidFill>
                        </a:defRPr>
                      </a:pPr>
                      <a:r>
                        <a:t>Chat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344A"/>
                          </a:solidFill>
                        </a:defRPr>
                      </a:pPr>
                      <a:r>
                        <a:t>Consulta Leis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344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344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344A"/>
                          </a:solidFill>
                        </a:defRPr>
                      </a:pPr>
                      <a:r>
                        <a:t>Consulta JurisBrasil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344A"/>
                          </a:solidFill>
                        </a:defRPr>
                      </a:pPr>
                      <a:r>
                        <a:t>Consulta Doutrina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344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344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475488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344A"/>
                </a:solidFill>
              </a:defRPr>
            </a:pPr>
            <a:r>
              <a:t>Leitura de jornada</a:t>
            </a:r>
          </a:p>
          <a:p>
            <a:pPr>
              <a:spcBef>
                <a:spcPts val="800"/>
              </a:spcBef>
              <a:defRPr sz="1150">
                <a:solidFill>
                  <a:srgbClr val="22344A"/>
                </a:solidFill>
              </a:defRPr>
            </a:pPr>
            <a:r>
              <a:t>  Jornada mais frequente: Chat para Consulta Leis.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88A"/>
                </a:solidFill>
              </a:defRPr>
            </a:pPr>
            <a:r>
              <a:t>JurisAI  |  Analise de Clientes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133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88A"/>
                </a:solidFill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C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9144000" cy="59436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defRPr sz="2200" b="1">
                <a:solidFill>
                  <a:srgbClr val="22344A"/>
                </a:solidFill>
              </a:defRPr>
            </a:pPr>
            <a:r>
              <a:t>Narrativa Sugerida para Promocao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2286000" cy="36576"/>
          </a:xfrm>
          <a:prstGeom prst="rect">
            <a:avLst/>
          </a:prstGeom>
          <a:solidFill>
            <a:srgbClr val="EC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7788A"/>
                </a:solidFill>
              </a:defRPr>
            </a:pPr>
            <a:r>
              <a:t>Resumo executivo pronto para apresentar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344A"/>
                </a:solidFill>
              </a:defRPr>
            </a:pPr>
            <a:r>
              <a:t>Pontos para pitch</a:t>
            </a:r>
          </a:p>
          <a:p>
            <a:pPr>
              <a:spcBef>
                <a:spcPts val="800"/>
              </a:spcBef>
              <a:defRPr sz="1150">
                <a:solidFill>
                  <a:srgbClr val="22344A"/>
                </a:solidFill>
              </a:defRPr>
            </a:pPr>
            <a:r>
              <a:t>  O JurisAI ativou 3 usuarios e gerou 6 eventos no recorte.</a:t>
            </a:r>
          </a:p>
          <a:p>
            <a:pPr>
              <a:spcBef>
                <a:spcPts val="800"/>
              </a:spcBef>
              <a:defRPr sz="1150">
                <a:solidFill>
                  <a:srgbClr val="22344A"/>
                </a:solidFill>
              </a:defRPr>
            </a:pPr>
            <a:r>
              <a:t>  A adocao e liderada por Consulta JurisBrasil, com sinal claro de demanda funcional.</a:t>
            </a:r>
          </a:p>
          <a:p>
            <a:pPr>
              <a:spcBef>
                <a:spcPts val="800"/>
              </a:spcBef>
              <a:defRPr sz="1150">
                <a:solidFill>
                  <a:srgbClr val="22344A"/>
                </a:solidFill>
              </a:defRPr>
            </a:pPr>
            <a:r>
              <a:t>  A recorrencia ja aparece em 0.0% da base filtrada.</a:t>
            </a:r>
          </a:p>
          <a:p>
            <a:pPr>
              <a:spcBef>
                <a:spcPts val="800"/>
              </a:spcBef>
              <a:defRPr sz="1150">
                <a:solidFill>
                  <a:srgbClr val="22344A"/>
                </a:solidFill>
              </a:defRPr>
            </a:pPr>
            <a:r>
              <a:t>  Duracao media de sessao: 6.2 minutos.</a:t>
            </a:r>
          </a:p>
          <a:p>
            <a:pPr>
              <a:spcBef>
                <a:spcPts val="800"/>
              </a:spcBef>
              <a:defRPr sz="1150">
                <a:solidFill>
                  <a:srgbClr val="22344A"/>
                </a:solidFill>
              </a:defRPr>
            </a:pPr>
            <a:r>
              <a:t>  A jornada mais frequente vai de Chat para Consulta Leis.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3657600" cy="3200400"/>
          </a:xfrm>
          <a:prstGeom prst="round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645920"/>
            <a:ext cx="310896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Use este deck em reunioes comerciais, demonstracoes e atualizacoes para parceiros.</a:t>
            </a:r>
          </a:p>
          <a:p>
            <a:br/>
            <a:pPr algn="ctr">
              <a:defRPr sz="1100">
                <a:solidFill>
                  <a:srgbClr val="3EADCF"/>
                </a:solidFill>
              </a:defRPr>
            </a:pPr>
            <a:r>
              <a:t>01/01/2026 a 28/02/2026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88A"/>
                </a:solidFill>
              </a:defRPr>
            </a:pPr>
            <a:r>
              <a:t>JurisAI  |  Analise de Clientes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133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88A"/>
                </a:solidFill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